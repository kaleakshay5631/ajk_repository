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Inter SemiBold"/>
      <p:regular r:id="rId8"/>
      <p:bold r:id="rId9"/>
      <p:italic r:id="rId10"/>
      <p:boldItalic r:id="rId11"/>
    </p:embeddedFont>
    <p:embeddedFont>
      <p:font typeface="Poppins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Fl8dkGrVxjZaLLRRLcURvY7A9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font" Target="fonts/InterSemiBold-boldItalic.fntdata"/><Relationship Id="rId10" Type="http://schemas.openxmlformats.org/officeDocument/2006/relationships/font" Target="fonts/InterSemiBold-italic.fntdata"/><Relationship Id="rId13" Type="http://schemas.openxmlformats.org/officeDocument/2006/relationships/font" Target="fonts/Poppins-bold.fntdata"/><Relationship Id="rId12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SemiBold-bold.fntdata"/><Relationship Id="rId15" Type="http://schemas.openxmlformats.org/officeDocument/2006/relationships/font" Target="fonts/Poppins-boldItalic.fntdata"/><Relationship Id="rId14" Type="http://schemas.openxmlformats.org/officeDocument/2006/relationships/font" Target="fonts/Poppins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10" Type="http://schemas.openxmlformats.org/officeDocument/2006/relationships/image" Target="../media/image1.png"/><Relationship Id="rId9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11" Type="http://schemas.openxmlformats.org/officeDocument/2006/relationships/image" Target="../media/image5.png"/><Relationship Id="rId10" Type="http://schemas.openxmlformats.org/officeDocument/2006/relationships/image" Target="../media/image8.png"/><Relationship Id="rId12" Type="http://schemas.openxmlformats.org/officeDocument/2006/relationships/image" Target="../media/image15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1200150"/>
            <a:ext cx="5438775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1200150"/>
            <a:ext cx="5438775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67175"/>
            <a:ext cx="4962525" cy="1214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875" y="6257925"/>
            <a:ext cx="111442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719137" y="6381750"/>
            <a:ext cx="9191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66"/>
                </a:solidFill>
                <a:latin typeface="Poppins"/>
                <a:ea typeface="Poppins"/>
                <a:cs typeface="Poppins"/>
                <a:sym typeface="Poppins"/>
              </a:rPr>
              <a:t>Cognizant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7448550" y="6424612"/>
            <a:ext cx="421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076325" y="1438275"/>
            <a:ext cx="48806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66"/>
                </a:solidFill>
                <a:latin typeface="Poppins"/>
                <a:ea typeface="Poppins"/>
                <a:cs typeface="Poppins"/>
                <a:sym typeface="Poppins"/>
              </a:rPr>
              <a:t>Deployment via PAC Command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762000" y="1857375"/>
            <a:ext cx="49625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Accelerate developer inner-loop testing by pushing code components directly to Dataverse environment without manual solution packaging.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6753225" y="1438275"/>
            <a:ext cx="49106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66"/>
                </a:solidFill>
                <a:latin typeface="Poppins"/>
                <a:ea typeface="Poppins"/>
                <a:cs typeface="Poppins"/>
                <a:sym typeface="Poppins"/>
              </a:rPr>
              <a:t>Hosting in View &amp; Form Fields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467475" y="1857375"/>
            <a:ext cx="49625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Bind custom PCF controls seamlessly to Model-Driven forms, subgrids, views, and Canvas app screens.</a:t>
            </a:r>
            <a:endParaRPr/>
          </a:p>
        </p:txBody>
      </p:sp>
      <p:pic>
        <p:nvPicPr>
          <p:cNvPr descr="image.png" id="95" name="Google Shape;95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48590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1009650" y="2381250"/>
            <a:ext cx="4714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Authentication: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Connect PAC CLI directly to active Dataverse sandbox environment.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1009650" y="2905125"/>
            <a:ext cx="4714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Instant Push: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Deploys a temporary development solution (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PowerApps Tools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automatically.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1009650" y="3429000"/>
            <a:ext cx="4714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Bypass Version Checks: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Rapidly test UI changes without incrementing manifest build numbers.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904875" y="4229100"/>
            <a:ext cx="215503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1. Connect to Dataverse org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904875" y="4414837"/>
            <a:ext cx="371549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rPr>
              <a:t>pac auth create --url https://org.crm.dynamics.com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904875" y="4786312"/>
            <a:ext cx="326960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2. Push PCF directly to active environment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904875" y="4972050"/>
            <a:ext cx="260077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1F5F9"/>
                </a:solidFill>
                <a:latin typeface="Courier New"/>
                <a:ea typeface="Courier New"/>
                <a:cs typeface="Courier New"/>
                <a:sym typeface="Courier New"/>
              </a:rPr>
              <a:t>pac pcf push --publisher-prefix cog</a:t>
            </a:r>
            <a:endParaRPr/>
          </a:p>
        </p:txBody>
      </p:sp>
      <p:pic>
        <p:nvPicPr>
          <p:cNvPr descr="image.png" id="103" name="Google Shape;103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67475" y="1485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/>
        </p:nvSpPr>
        <p:spPr>
          <a:xfrm>
            <a:off x="6715125" y="2381250"/>
            <a:ext cx="47148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Form Fields: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 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Powerapps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Form Designer, select target column -&gt; </a:t>
            </a:r>
            <a:r>
              <a:rPr b="0" i="1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Components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-&gt; Add Custom PCF control.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6715125" y="2905125"/>
            <a:ext cx="4714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Views &amp; Subgrids: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Bind Dataset template controls to grid views to render custom tables, calendars, or cards.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6715125" y="3429000"/>
            <a:ext cx="4714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Canvas Apps: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Enable code components in environment settings, then insert from </a:t>
            </a:r>
            <a:r>
              <a:rPr b="0" i="1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Get More Components -&gt; Code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6715125" y="3952875"/>
            <a:ext cx="47148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Properties &amp; Events: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Configure input/output property bindings and trigger Dataverse updates natively.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523875" y="428625"/>
            <a:ext cx="116681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66"/>
                </a:solidFill>
                <a:latin typeface="Poppins"/>
                <a:ea typeface="Poppins"/>
                <a:cs typeface="Poppins"/>
                <a:sym typeface="Poppins"/>
              </a:rPr>
              <a:t>PCF Deployment &amp; Hosting in Power Apps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523875" y="98107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240030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292417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44805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67475" y="240030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67475" y="292417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67475" y="344805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67475" y="3971925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76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1200150"/>
            <a:ext cx="5438775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1200150"/>
            <a:ext cx="5438775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857375"/>
            <a:ext cx="496252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752725"/>
            <a:ext cx="496252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648075"/>
            <a:ext cx="496252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543425"/>
            <a:ext cx="496252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86650" y="4691062"/>
            <a:ext cx="29241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3875" y="6257925"/>
            <a:ext cx="111442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 txBox="1"/>
          <p:nvPr/>
        </p:nvSpPr>
        <p:spPr>
          <a:xfrm>
            <a:off x="719137" y="6381750"/>
            <a:ext cx="9191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66"/>
                </a:solidFill>
                <a:latin typeface="Poppins"/>
                <a:ea typeface="Poppins"/>
                <a:cs typeface="Poppins"/>
                <a:sym typeface="Poppins"/>
              </a:rPr>
              <a:t>Cognizant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7505700" y="6424612"/>
            <a:ext cx="41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1047750" y="1438275"/>
            <a:ext cx="49106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66"/>
                </a:solidFill>
                <a:latin typeface="Poppins"/>
                <a:ea typeface="Poppins"/>
                <a:cs typeface="Poppins"/>
                <a:sym typeface="Poppins"/>
              </a:rPr>
              <a:t>Key PCF Best Practices</a:t>
            </a:r>
            <a:endParaRPr/>
          </a:p>
        </p:txBody>
      </p:sp>
      <p:pic>
        <p:nvPicPr>
          <p:cNvPr descr="image.png" id="133" name="Google Shape;133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67737" y="22526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"/>
          <p:cNvSpPr txBox="1"/>
          <p:nvPr/>
        </p:nvSpPr>
        <p:spPr>
          <a:xfrm>
            <a:off x="7198518" y="3205162"/>
            <a:ext cx="35004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 &amp; Answers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7043737" y="3776662"/>
            <a:ext cx="381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Thank you for attending the session! We are now open for technical Q&amp;A regarding PCF development, deployment, and hosting.</a:t>
            </a:r>
            <a:endParaRPr/>
          </a:p>
        </p:txBody>
      </p:sp>
      <p:pic>
        <p:nvPicPr>
          <p:cNvPr descr="image.png" id="136" name="Google Shape;136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1485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 txBox="1"/>
          <p:nvPr/>
        </p:nvSpPr>
        <p:spPr>
          <a:xfrm>
            <a:off x="952500" y="1971675"/>
            <a:ext cx="48506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Leverage Virtual React Controls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952500" y="2171700"/>
            <a:ext cx="4619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Use --framework react and React 16+ platform libraries to share runtime DOM and reduce package bundle size.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952500" y="2867025"/>
            <a:ext cx="48506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Prevent Memory Leaks in destroy()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952500" y="3067050"/>
            <a:ext cx="4619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Clean up event listeners, unmount React roots, and clear timers inside the destroy() lifecycle method.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952500" y="3762375"/>
            <a:ext cx="48506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Use Fluent UI Framework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952500" y="3962400"/>
            <a:ext cx="4619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Adopt Microsoft Fluent UI design components for consistent accessibility, dark mode, and seamless visual alignment.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952500" y="4657725"/>
            <a:ext cx="48506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 Implement Proper ALM Pipelines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952500" y="4857750"/>
            <a:ext cx="4619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Use pac pcf push for local dev, but strictly bundle controls into version-controlled solutions for Test/Prod environments.</a:t>
            </a:r>
            <a:endParaRPr/>
          </a:p>
        </p:txBody>
      </p:sp>
      <p:pic>
        <p:nvPicPr>
          <p:cNvPr descr="image.png" id="145" name="Google Shape;145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34425" y="2462212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86675" y="4814887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"/>
          <p:cNvSpPr txBox="1"/>
          <p:nvPr/>
        </p:nvSpPr>
        <p:spPr>
          <a:xfrm>
            <a:off x="523875" y="428625"/>
            <a:ext cx="116681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66"/>
                </a:solidFill>
                <a:latin typeface="Poppins"/>
                <a:ea typeface="Poppins"/>
                <a:cs typeface="Poppins"/>
                <a:sym typeface="Poppins"/>
              </a:rPr>
              <a:t>PCF Best Practices &amp; Q&amp;A</a:t>
            </a:r>
            <a:endParaRPr/>
          </a:p>
        </p:txBody>
      </p:sp>
      <p:sp>
        <p:nvSpPr>
          <p:cNvPr id="148" name="Google Shape;148;p2"/>
          <p:cNvSpPr/>
          <p:nvPr/>
        </p:nvSpPr>
        <p:spPr>
          <a:xfrm>
            <a:off x="523875" y="98107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