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  <p:embeddedFont>
      <p:font typeface="JetBrains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hAowcrEm+e+Dp6r+QD4KUQ2XsC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8" Type="http://schemas.openxmlformats.org/officeDocument/2006/relationships/font" Target="fonts/JetBrainsMono-regular.fntdata"/><Relationship Id="rId27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boldItalic.fntdata"/><Relationship Id="rId30" Type="http://schemas.openxmlformats.org/officeDocument/2006/relationships/font" Target="fonts/JetBrains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11" Type="http://schemas.openxmlformats.org/officeDocument/2006/relationships/image" Target="../media/image10.png"/><Relationship Id="rId10" Type="http://schemas.openxmlformats.org/officeDocument/2006/relationships/image" Target="../media/image16.png"/><Relationship Id="rId9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10" Type="http://schemas.openxmlformats.org/officeDocument/2006/relationships/image" Target="../media/image17.png"/><Relationship Id="rId9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34.png"/><Relationship Id="rId13" Type="http://schemas.openxmlformats.org/officeDocument/2006/relationships/image" Target="../media/image2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Relationship Id="rId9" Type="http://schemas.openxmlformats.org/officeDocument/2006/relationships/image" Target="../media/image27.png"/><Relationship Id="rId15" Type="http://schemas.openxmlformats.org/officeDocument/2006/relationships/image" Target="../media/image31.png"/><Relationship Id="rId14" Type="http://schemas.openxmlformats.org/officeDocument/2006/relationships/image" Target="../media/image25.png"/><Relationship Id="rId17" Type="http://schemas.openxmlformats.org/officeDocument/2006/relationships/image" Target="../media/image28.png"/><Relationship Id="rId16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18" Type="http://schemas.openxmlformats.org/officeDocument/2006/relationships/image" Target="../media/image29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9" Type="http://schemas.openxmlformats.org/officeDocument/2006/relationships/image" Target="../media/image2.png"/><Relationship Id="rId5" Type="http://schemas.openxmlformats.org/officeDocument/2006/relationships/image" Target="../media/image49.png"/><Relationship Id="rId6" Type="http://schemas.openxmlformats.org/officeDocument/2006/relationships/image" Target="../media/image48.png"/><Relationship Id="rId7" Type="http://schemas.openxmlformats.org/officeDocument/2006/relationships/image" Target="../media/image45.png"/><Relationship Id="rId8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44.png"/><Relationship Id="rId6" Type="http://schemas.openxmlformats.org/officeDocument/2006/relationships/image" Target="../media/image50.png"/><Relationship Id="rId7" Type="http://schemas.openxmlformats.org/officeDocument/2006/relationships/image" Target="../media/image2.png"/><Relationship Id="rId8" Type="http://schemas.openxmlformats.org/officeDocument/2006/relationships/image" Target="../media/image4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4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5837" y="3674715"/>
            <a:ext cx="26003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405413" y="2383184"/>
            <a:ext cx="938117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PowerApps Component Framework (PCF)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483893" y="3046065"/>
            <a:ext cx="32242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5E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Knowledge Sharing Session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62000" y="6415087"/>
            <a:ext cx="12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148262" y="3967615"/>
            <a:ext cx="189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Presented by: </a:t>
            </a:r>
            <a:r>
              <a:rPr b="1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Akshay Kale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148262" y="4108102"/>
            <a:ext cx="18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0660425" y="6410425"/>
            <a:ext cx="945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629792"/>
            <a:ext cx="461962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629792"/>
            <a:ext cx="461962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1340638" y="6338787"/>
            <a:ext cx="1119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Agenda Overview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0161300" y="6334125"/>
            <a:ext cx="69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071687" y="2867917"/>
            <a:ext cx="3371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Introduction to PCF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Core foundation details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071687" y="3144142"/>
            <a:ext cx="3371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PCF Architecture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Manifest files and schemas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071687" y="3420367"/>
            <a:ext cx="3371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Business Use Cases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Practical custom controls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071673" y="3696601"/>
            <a:ext cx="4009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Workstation Setup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Tools and system requirements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071687" y="3972817"/>
            <a:ext cx="3372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Project Directory Blueprint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Schema &amp; files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6867525" y="3006030"/>
            <a:ext cx="35909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Lifecycle Hooks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Complete component runtimes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6867525" y="3282249"/>
            <a:ext cx="4009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Scaffold First Control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Hands-on execution commands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6867525" y="3558480"/>
            <a:ext cx="35909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Best Practices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Memory management &amp; patterns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6867525" y="3834705"/>
            <a:ext cx="35909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Interactive Q&amp;A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Knowledge sharing round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495300" y="571500"/>
            <a:ext cx="11201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Session Agenda</a:t>
            </a:r>
            <a:endParaRPr/>
          </a:p>
        </p:txBody>
      </p:sp>
      <p:pic>
        <p:nvPicPr>
          <p:cNvPr descr="image.png" id="111" name="Google Shape;11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3087" y="288696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3087" y="316319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3087" y="343941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3087" y="371564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3087" y="399186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8925" y="302508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8925" y="330130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8925" y="357753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8925" y="3853755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158305"/>
            <a:ext cx="519112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158305"/>
            <a:ext cx="519112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762000" y="6415087"/>
            <a:ext cx="781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Introduction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0560300" y="6410425"/>
            <a:ext cx="869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2712481" y="2648842"/>
            <a:ext cx="129016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What is PCF?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2743200" y="2934592"/>
            <a:ext cx="1228725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1000125" y="3067942"/>
            <a:ext cx="47148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modern extensibility framework for building high-performance custom UI controls natively inside Model-Driven, Canvas, and Dynamics 365 environments.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000125" y="3825180"/>
            <a:ext cx="47148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Developed cleanly using standard web stacks: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TypeScript, HTML5, CSS3, and React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It removes legacy iframe integration limitations and rendering delays completely.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8129349" y="2396430"/>
            <a:ext cx="141017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Major Benefits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8162925" y="2682180"/>
            <a:ext cx="1343025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705600" y="2815530"/>
            <a:ext cx="44862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Enhanced User Experience: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Renders visual controls inline with standard platform fields.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6705600" y="3291780"/>
            <a:ext cx="44862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Optimized Performance: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Direct client-side engine execution for seamless rendering.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6705600" y="3768030"/>
            <a:ext cx="44862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Code Reusability: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Package controls as standard solutions to distribute across workspaces.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6705600" y="4244280"/>
            <a:ext cx="44862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Flexible Ecosystem: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Easily bind NPM libraries &amp; custom design structures.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495300" y="571500"/>
            <a:ext cx="11201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Introduction to PCF</a:t>
            </a:r>
            <a:endParaRPr/>
          </a:p>
        </p:txBody>
      </p:sp>
      <p:pic>
        <p:nvPicPr>
          <p:cNvPr descr="image.png" id="140" name="Google Shape;14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283458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331083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378708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4263330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431702"/>
            <a:ext cx="9601200" cy="1367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4028033"/>
            <a:ext cx="5162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4028033"/>
            <a:ext cx="51625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5913" y="266982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8288" y="266982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70662" y="266982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63037" y="266982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 txBox="1"/>
          <p:nvPr/>
        </p:nvSpPr>
        <p:spPr>
          <a:xfrm>
            <a:off x="762000" y="6415087"/>
            <a:ext cx="14335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Architecture Overview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10544253" y="6410425"/>
            <a:ext cx="790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2562076" y="3088927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Power Apps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2163663" y="3288952"/>
            <a:ext cx="1587549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Host execution interface &amp; client state</a:t>
            </a:r>
            <a:endParaRPr/>
          </a:p>
        </p:txBody>
      </p:sp>
      <p:pic>
        <p:nvPicPr>
          <p:cNvPr descr="image.png" id="160" name="Google Shape;160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41712" y="3020317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 txBox="1"/>
          <p:nvPr/>
        </p:nvSpPr>
        <p:spPr>
          <a:xfrm>
            <a:off x="4659213" y="3088927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PCF Control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4256037" y="3288952"/>
            <a:ext cx="1587549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 layer &amp; TypeScript model runtime</a:t>
            </a:r>
            <a:endParaRPr/>
          </a:p>
        </p:txBody>
      </p:sp>
      <p:pic>
        <p:nvPicPr>
          <p:cNvPr descr="image.png" id="163" name="Google Shape;163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34087" y="3020317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 txBox="1"/>
          <p:nvPr/>
        </p:nvSpPr>
        <p:spPr>
          <a:xfrm>
            <a:off x="6746925" y="3069976"/>
            <a:ext cx="790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Dataverse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6348412" y="3288952"/>
            <a:ext cx="1587549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Entity definitions &amp; transactional data</a:t>
            </a:r>
            <a:endParaRPr/>
          </a:p>
        </p:txBody>
      </p:sp>
      <p:pic>
        <p:nvPicPr>
          <p:cNvPr descr="image.png" id="166" name="Google Shape;16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6462" y="3020317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 txBox="1"/>
          <p:nvPr/>
        </p:nvSpPr>
        <p:spPr>
          <a:xfrm>
            <a:off x="8620825" y="3070000"/>
            <a:ext cx="122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External APIs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8440787" y="3288952"/>
            <a:ext cx="1587549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REST integrations &amp; cloud services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1057275" y="4170908"/>
            <a:ext cx="4762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Manifest XML File: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Explicitly defines properties, system bindings, database mappings, and required host API execution permissions.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6372225" y="4170908"/>
            <a:ext cx="4762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Logic &amp; Style Pipeline: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TypeScript controls component state, React builds UI fragments, and CSS wraps layouts cleanly.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95300" y="571500"/>
            <a:ext cx="11201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PCF Architectural Layout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2579786"/>
            <a:ext cx="336545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2579786"/>
            <a:ext cx="336545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9150" y="2579786"/>
            <a:ext cx="336545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762000" y="6415087"/>
            <a:ext cx="962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Value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10731929" y="6410425"/>
            <a:ext cx="90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  <p:pic>
        <p:nvPicPr>
          <p:cNvPr descr="image.png" id="182" name="Google Shape;18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30350" y="281791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/>
          <p:nvPr/>
        </p:nvSpPr>
        <p:spPr>
          <a:xfrm>
            <a:off x="1914822" y="3389411"/>
            <a:ext cx="12501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Rating Control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095375" y="3741836"/>
            <a:ext cx="28892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Exchange basic numbers fields with beautiful stars, interactive sliders, dial gauges, or custom qualitative feedback structures.</a:t>
            </a:r>
            <a:endParaRPr/>
          </a:p>
        </p:txBody>
      </p:sp>
      <p:pic>
        <p:nvPicPr>
          <p:cNvPr descr="image.png" id="185" name="Google Shape;18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6301" y="281791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/>
        </p:nvSpPr>
        <p:spPr>
          <a:xfrm>
            <a:off x="5345757" y="3389411"/>
            <a:ext cx="1500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Submission Form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4651325" y="3741836"/>
            <a:ext cx="28892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wizard layouts, file drag-and-drop boxes, and dynamic input validators right within default canvas forms.</a:t>
            </a:r>
            <a:endParaRPr/>
          </a:p>
        </p:txBody>
      </p:sp>
      <p:pic>
        <p:nvPicPr>
          <p:cNvPr descr="image.png" id="188" name="Google Shape;18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42251" y="281791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 txBox="1"/>
          <p:nvPr/>
        </p:nvSpPr>
        <p:spPr>
          <a:xfrm>
            <a:off x="8976717" y="3389411"/>
            <a:ext cx="13501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Live Dashboard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8207275" y="3741836"/>
            <a:ext cx="28892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Incorporate live reports, graphs, and external tables communicating securely with proprietary database endpoints.</a:t>
            </a:r>
            <a:endParaRPr/>
          </a:p>
        </p:txBody>
      </p:sp>
      <p:pic>
        <p:nvPicPr>
          <p:cNvPr descr="image.png" id="191" name="Google Shape;19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0838" y="2922686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14888" y="2922686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47026" y="292268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 txBox="1"/>
          <p:nvPr/>
        </p:nvSpPr>
        <p:spPr>
          <a:xfrm>
            <a:off x="495300" y="571500"/>
            <a:ext cx="11201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PCF Core Use Cases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34592"/>
            <a:ext cx="201156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5960" y="2934592"/>
            <a:ext cx="201170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0070" y="2934592"/>
            <a:ext cx="201170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4180" y="2934592"/>
            <a:ext cx="201170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8290" y="2934592"/>
            <a:ext cx="201156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5805" y="4430017"/>
            <a:ext cx="11239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03078" y="4430017"/>
            <a:ext cx="14573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33876" y="4430017"/>
            <a:ext cx="11239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97973" y="4430017"/>
            <a:ext cx="1323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862095" y="4430017"/>
            <a:ext cx="11239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2286000" y="2277367"/>
            <a:ext cx="762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Ensure developer systems are preconfigured with these essential tools and platform packages before code scaffolding.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762000" y="6415087"/>
            <a:ext cx="1724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Environment Requirements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10688600" y="6410425"/>
            <a:ext cx="90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1427737" y="3610867"/>
            <a:ext cx="6800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VS Code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904875" y="3915667"/>
            <a:ext cx="17258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Standard IDE for script development.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3631703" y="3610867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Node.js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3068835" y="3915667"/>
            <a:ext cx="172595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JavaScript runtime environment.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5920829" y="3610867"/>
            <a:ext cx="3500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npm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5232945" y="3915667"/>
            <a:ext cx="172595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Package manager for dependencies.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7949922" y="3610867"/>
            <a:ext cx="6200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PAC CLI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7397055" y="3915667"/>
            <a:ext cx="172595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Power Platform command utilities.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10314056" y="3668017"/>
            <a:ext cx="22002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Git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9581108" y="4029967"/>
            <a:ext cx="1685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Distributed version control tool.</a:t>
            </a:r>
            <a:endParaRPr/>
          </a:p>
        </p:txBody>
      </p:sp>
      <p:pic>
        <p:nvPicPr>
          <p:cNvPr descr="image.png" id="223" name="Google Shape;223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01092" y="316319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812678" y="316319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976788" y="316319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107560" y="316319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305008" y="316319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 txBox="1"/>
          <p:nvPr/>
        </p:nvSpPr>
        <p:spPr>
          <a:xfrm>
            <a:off x="495300" y="571500"/>
            <a:ext cx="11201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Environment Setup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211460"/>
            <a:ext cx="4891980" cy="5058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4980" y="2683371"/>
            <a:ext cx="5299769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4980" y="3426321"/>
            <a:ext cx="5299769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4980" y="4169271"/>
            <a:ext cx="5299769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7"/>
          <p:cNvSpPr txBox="1"/>
          <p:nvPr/>
        </p:nvSpPr>
        <p:spPr>
          <a:xfrm>
            <a:off x="762000" y="6415087"/>
            <a:ext cx="8905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Directory Map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10806004" y="6410425"/>
            <a:ext cx="890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1047750" y="1401960"/>
            <a:ext cx="45109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MyControl/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1047750" y="1921668"/>
            <a:ext cx="45109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</a:t>
            </a:r>
            <a:r>
              <a:rPr b="0" i="0" lang="en-US" sz="975" u="none" cap="none" strike="noStrike">
                <a:solidFill>
                  <a:srgbClr val="00B5E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ControlManifest.Input.xml</a:t>
            </a: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(Configuration)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1047750" y="2441376"/>
            <a:ext cx="45109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</a:t>
            </a:r>
            <a:r>
              <a:rPr b="0" i="0" lang="en-US" sz="975" u="none" cap="none" strike="noStrike">
                <a:solidFill>
                  <a:srgbClr val="00B5E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index.ts</a:t>
            </a: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(Main Logic)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1047750" y="2961084"/>
            <a:ext cx="45109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css/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1047750" y="3480792"/>
            <a:ext cx="45109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└── styles.css (Styles)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1047750" y="4000500"/>
            <a:ext cx="45109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generated/ (Output Schema)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1047750" y="4520207"/>
            <a:ext cx="45109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node_modules/ (NPM Dependencies)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1047750" y="5039915"/>
            <a:ext cx="45109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package.json (Project Metadata)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1047750" y="5559623"/>
            <a:ext cx="451098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└── tsconfig.json (TypeScript Rules)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6263580" y="2797671"/>
            <a:ext cx="48806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ControlManifest: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single source of truth describing database inputs, runtime properties, and script dependencies.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6263580" y="3540621"/>
            <a:ext cx="48806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index.ts: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core class module containing class logic, lifecycle hooks, and system events callbacks.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6263580" y="4283571"/>
            <a:ext cx="488066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Package Modules: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Package.json defines script tasks and library dependencies needed for local compiling.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495300" y="571500"/>
            <a:ext cx="11201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PCF Project Structure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07171"/>
            <a:ext cx="2524125" cy="1902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625" y="2607171"/>
            <a:ext cx="2524125" cy="1902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607171"/>
            <a:ext cx="2524125" cy="1902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5875" y="2607171"/>
            <a:ext cx="2524125" cy="1902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2612" y="284529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67237" y="284529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1862" y="284529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96487" y="284529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"/>
          <p:cNvSpPr txBox="1"/>
          <p:nvPr/>
        </p:nvSpPr>
        <p:spPr>
          <a:xfrm>
            <a:off x="762000" y="6415087"/>
            <a:ext cx="9572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Runtime Hooks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10739405" y="6410425"/>
            <a:ext cx="9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1814036" y="3302496"/>
            <a:ext cx="42005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init()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962025" y="3578721"/>
            <a:ext cx="2124075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Initializes layouts, context objects, client states, and notifies host of ready configurations.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4148613" y="3302496"/>
            <a:ext cx="11801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updateView()</a:t>
            </a:r>
            <a:endParaRPr/>
          </a:p>
        </p:txBody>
      </p:sp>
      <p:sp>
        <p:nvSpPr>
          <p:cNvPr id="271" name="Google Shape;271;p8"/>
          <p:cNvSpPr txBox="1"/>
          <p:nvPr/>
        </p:nvSpPr>
        <p:spPr>
          <a:xfrm>
            <a:off x="3676650" y="3578721"/>
            <a:ext cx="2124075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Invokes dynamically when platform properties, context changes, or data state refreshes on page.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6883241" y="3302496"/>
            <a:ext cx="11401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getOutputs()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6391275" y="3578721"/>
            <a:ext cx="2124075" cy="692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Communicates newly bound control inputs and structural outputs back to host application model.</a:t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9757886" y="3302496"/>
            <a:ext cx="82010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destroy()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9105900" y="3578721"/>
            <a:ext cx="2124075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Releases browser memory, cleans up subscription handlers, and deletes DOM nodes safely.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495300" y="571500"/>
            <a:ext cx="11201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The PCF Component Lifecycle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3129855"/>
            <a:ext cx="50958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4144267"/>
            <a:ext cx="50958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3129855"/>
            <a:ext cx="50958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3529905"/>
            <a:ext cx="50958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 txBox="1"/>
          <p:nvPr/>
        </p:nvSpPr>
        <p:spPr>
          <a:xfrm>
            <a:off x="762000" y="6415087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Scaffolding Tutorial</a:t>
            </a:r>
            <a:endParaRPr/>
          </a:p>
        </p:txBody>
      </p:sp>
      <p:sp>
        <p:nvSpPr>
          <p:cNvPr id="287" name="Google Shape;287;p9"/>
          <p:cNvSpPr txBox="1"/>
          <p:nvPr/>
        </p:nvSpPr>
        <p:spPr>
          <a:xfrm>
            <a:off x="10833302" y="6323500"/>
            <a:ext cx="760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729853" y="2629792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1. Scaffold Command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857250" y="2886967"/>
            <a:ext cx="5095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 project directories using command template scripts: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729853" y="3644205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2. Install Dependencies</a:t>
            </a:r>
            <a:endParaRPr/>
          </a:p>
        </p:txBody>
      </p:sp>
      <p:sp>
        <p:nvSpPr>
          <p:cNvPr id="291" name="Google Shape;291;p9"/>
          <p:cNvSpPr txBox="1"/>
          <p:nvPr/>
        </p:nvSpPr>
        <p:spPr>
          <a:xfrm>
            <a:off x="857250" y="3901380"/>
            <a:ext cx="5095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Install compiler variables and react modules:</a:t>
            </a:r>
            <a:endParaRPr/>
          </a:p>
        </p:txBody>
      </p:sp>
      <p:sp>
        <p:nvSpPr>
          <p:cNvPr id="292" name="Google Shape;292;p9"/>
          <p:cNvSpPr txBox="1"/>
          <p:nvPr/>
        </p:nvSpPr>
        <p:spPr>
          <a:xfrm>
            <a:off x="6111478" y="2629792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3. Build and Start Compiler</a:t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6238875" y="2886967"/>
            <a:ext cx="5095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logic scripts and initialize local browser simulation sandbox: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6238875" y="4006155"/>
            <a:ext cx="5095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command utility launches interactive debugging frames in the browser on a local port automatically.</a:t>
            </a:r>
            <a:endParaRPr/>
          </a:p>
        </p:txBody>
      </p:sp>
      <p:pic>
        <p:nvPicPr>
          <p:cNvPr descr="image.png" id="295" name="Google Shape;29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403473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9"/>
          <p:cNvSpPr txBox="1"/>
          <p:nvPr/>
        </p:nvSpPr>
        <p:spPr>
          <a:xfrm>
            <a:off x="495300" y="571500"/>
            <a:ext cx="11201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48"/>
                </a:solidFill>
                <a:latin typeface="Inter"/>
                <a:ea typeface="Inter"/>
                <a:cs typeface="Inter"/>
                <a:sym typeface="Inter"/>
              </a:rPr>
              <a:t>Create Your First PCF Control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48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875" y="3867150"/>
            <a:ext cx="50482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"/>
          <p:cNvSpPr txBox="1"/>
          <p:nvPr/>
        </p:nvSpPr>
        <p:spPr>
          <a:xfrm>
            <a:off x="3160633" y="2390775"/>
            <a:ext cx="5870733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Questions &amp; Answers</a:t>
            </a:r>
            <a:endParaRPr/>
          </a:p>
        </p:txBody>
      </p:sp>
      <p:sp>
        <p:nvSpPr>
          <p:cNvPr id="304" name="Google Shape;304;p10"/>
          <p:cNvSpPr txBox="1"/>
          <p:nvPr/>
        </p:nvSpPr>
        <p:spPr>
          <a:xfrm>
            <a:off x="4110037" y="3171825"/>
            <a:ext cx="3971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B5E2"/>
                </a:solidFill>
                <a:latin typeface="Inter Medium"/>
                <a:ea typeface="Inter Medium"/>
                <a:cs typeface="Inter Medium"/>
                <a:sym typeface="Inter Medium"/>
              </a:rPr>
              <a:t>Thank you for your active participation.</a:t>
            </a:r>
            <a:endParaRPr/>
          </a:p>
        </p:txBody>
      </p:sp>
      <p:sp>
        <p:nvSpPr>
          <p:cNvPr id="305" name="Google Shape;305;p10"/>
          <p:cNvSpPr txBox="1"/>
          <p:nvPr/>
        </p:nvSpPr>
        <p:spPr>
          <a:xfrm>
            <a:off x="762000" y="6415087"/>
            <a:ext cx="942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End of Session</a:t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3962400" y="4067175"/>
            <a:ext cx="4267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PowerApps Component Framework | Knowledge-Exchange Forum</a:t>
            </a:r>
            <a:endParaRPr/>
          </a:p>
        </p:txBody>
      </p:sp>
      <p:sp>
        <p:nvSpPr>
          <p:cNvPr id="307" name="Google Shape;307;p10"/>
          <p:cNvSpPr txBox="1"/>
          <p:nvPr/>
        </p:nvSpPr>
        <p:spPr>
          <a:xfrm>
            <a:off x="10789903" y="6410325"/>
            <a:ext cx="84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cognizant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